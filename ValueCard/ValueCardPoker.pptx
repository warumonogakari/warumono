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3" r:id="rId6"/>
    <p:sldId id="264" r:id="rId7"/>
    <p:sldId id="267" r:id="rId8"/>
    <p:sldId id="268" r:id="rId9"/>
    <p:sldId id="269" r:id="rId10"/>
    <p:sldId id="270" r:id="rId11"/>
    <p:sldId id="271" r:id="rId12"/>
    <p:sldId id="265" r:id="rId13"/>
    <p:sldId id="266" r:id="rId14"/>
    <p:sldId id="261" r:id="rId15"/>
    <p:sldId id="259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31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5631E-6B12-43E3-8BD8-22B72CF3F4B6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EBCA3-E28B-4374-BFDD-167058D54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899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4EBCA3-E28B-4374-BFDD-167058D5499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2241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75CA68-99D8-0F81-536B-C22A6B260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523049D-D6E2-7018-860B-D3DAEBA966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E0CF6A-5105-DB8A-C2D0-F279476A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12B5-5034-40E3-B591-E9E2AE86CBF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D24FCD-95C0-EF0B-7CF1-63AC35231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25490D-8D42-F4FF-20D3-E535F35F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9025-519F-4F69-BB09-67FA6EA66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4163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2181CF-5ECB-7860-2E5F-A2C28400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676F0E-7AC1-0EAC-0A97-4FB7ABC5B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ACDF32-0285-A3CF-B080-518226288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12B5-5034-40E3-B591-E9E2AE86CBF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7F371D-3DEE-1A40-E528-574C1231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D3B3A8-487F-FCE4-46CD-04C69F51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9025-519F-4F69-BB09-67FA6EA66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740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50457F-E8FF-FF4B-1512-E0A739C4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D25EB3-2343-5E1A-0909-587416984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823A32-85F5-7E2D-0C54-4955C7AA0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12B5-5034-40E3-B591-E9E2AE86CBF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24F26A-6926-B24C-9D13-8A99F16EE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6C678D-4233-260F-843E-C2099C0E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9025-519F-4F69-BB09-67FA6EA66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087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E62BEB-5390-4A5A-D53E-ADDC537B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35D59C-6493-7A28-25C9-38CA667B5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DE5A5A-9883-82EF-8DF5-15F705F4F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2DCAAC-2794-C96D-5D46-932F270A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12B5-5034-40E3-B591-E9E2AE86CBF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33EB85-B899-BEF3-BA7E-E9696B949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D4ABF2-3972-6D30-266E-1FF8203EE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9025-519F-4F69-BB09-67FA6EA66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3543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30046E-5DAC-F964-47A8-D17C8DE8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E9A143-A5B9-798A-0BD8-92836CD5C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82DD45C-AE7E-06FE-55E9-E94B8CE4D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70FF79E-EEA9-B230-9EA0-DFDBBFC33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0D45DE6-3943-E6BA-9558-C749CC7EB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E2EBACF-49AB-193A-0A1F-23A3DF301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12B5-5034-40E3-B591-E9E2AE86CBF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116FE77-3295-053E-3E5F-80A2AF322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D802470-66A5-7FFE-720F-072487EB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9025-519F-4F69-BB09-67FA6EA66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106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6DA575-FF18-BE84-9794-B9F0DBB67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01239F-B396-9197-E875-11991F758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12B5-5034-40E3-B591-E9E2AE86CBF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2782505-7308-DE99-7EEE-4D929362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E15C79F-9EC4-9903-E011-057500EE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9025-519F-4F69-BB09-67FA6EA66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0417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74E8F64-9EF7-DB5F-D8F0-D3A511FD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12B5-5034-40E3-B591-E9E2AE86CBF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472C118-DCA4-FFC7-081A-BA625B13A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9F4FE1-6442-58EA-DF57-8116D8CCA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9025-519F-4F69-BB09-67FA6EA66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6273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814C0D-8475-F4EF-0A99-6DE61D6E3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867FBE-69D6-E135-8849-3D7D04B3E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28FC63-CCAF-6370-7166-A48F71B15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931811-0048-E6C4-4BE8-7FA2B5877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12B5-5034-40E3-B591-E9E2AE86CBF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EC93FB-BA6D-59E0-4BA7-BF9155E97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3D8045-89A6-0602-B31A-352F626F6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9025-519F-4F69-BB09-67FA6EA66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4628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22F991-004A-8222-2944-E5C5A9A3D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A62ADA-7C24-F273-D7AA-BAEAFEF1E0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C28775C-4AFA-B306-C64F-CCACA7E3A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35152A-4AAD-590D-5049-976BE7B6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12B5-5034-40E3-B591-E9E2AE86CBF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B20E17-C6D2-832E-EF34-D1FC4156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BE8BAF-FDA9-8911-65B4-96699D566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9025-519F-4F69-BB09-67FA6EA66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6350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B262C9-C17F-B168-D7F9-7DE5937E3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084FAA-D9E7-54E9-1002-E6429477E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E88E15-1A97-FC4B-58BA-35CD9F21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12B5-5034-40E3-B591-E9E2AE86CBF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7DD361-0095-3D9F-FC03-D80129D48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907201-53EE-995A-38ED-DBAB7F7E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9025-519F-4F69-BB09-67FA6EA66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7654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B38AA06-1D02-3BC1-FA7E-1802C41790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B9B24D-BDA1-8672-FA77-AE875E599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B5834B-E090-B758-3CB2-D26FC2BE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12B5-5034-40E3-B591-E9E2AE86CBF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D79194-A654-4ADB-20DD-5803B10D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B09DEA-2611-229A-78DC-9C6F10FF0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9025-519F-4F69-BB09-67FA6EA66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7962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A8B61ED-BFBC-8648-B600-5283CFFD3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89B8EE-CB63-D48E-E7F1-64565CB6C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519E6D-EF6B-E0DF-583B-E336AFE7FC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112B5-5034-40E3-B591-E9E2AE86CBF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0B57DB-A5A5-1DB6-F383-A118B87B4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44EBE7-0CFD-8912-5B79-CC8434EE6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079025-519F-4F69-BB09-67FA6EA66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166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udonarium.app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nuworks.jp/ja/2016/10/26/moving-motivator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b="1" dirty="0" err="1"/>
              <a:t>ValueCard</a:t>
            </a:r>
            <a:r>
              <a:rPr lang="en-US" altLang="ja-JP" b="1" dirty="0"/>
              <a:t> Poker</a:t>
            </a:r>
            <a:br>
              <a:rPr lang="ja-JP" altLang="en-US" b="1" dirty="0"/>
            </a:br>
            <a:r>
              <a:rPr lang="ja-JP" altLang="en-US" b="1" dirty="0"/>
              <a:t>をやってみよう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05498" y="4762335"/>
            <a:ext cx="9144000" cy="1411138"/>
          </a:xfrm>
        </p:spPr>
        <p:txBody>
          <a:bodyPr>
            <a:normAutofit fontScale="85000" lnSpcReduction="20000"/>
          </a:bodyPr>
          <a:lstStyle/>
          <a:p>
            <a:r>
              <a:rPr kumimoji="1" lang="ja-JP" altLang="en-US" dirty="0"/>
              <a:t>加藤裕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初出</a:t>
            </a:r>
            <a:r>
              <a:rPr lang="en-US" altLang="ja-JP" dirty="0"/>
              <a:t>2017/01/14, 04/03</a:t>
            </a:r>
          </a:p>
          <a:p>
            <a:r>
              <a:rPr kumimoji="1" lang="ja-JP" altLang="en-US" dirty="0"/>
              <a:t>改版</a:t>
            </a:r>
            <a:r>
              <a:rPr kumimoji="1" lang="en-US" altLang="ja-JP" dirty="0"/>
              <a:t>2025/6/11</a:t>
            </a:r>
            <a:endParaRPr kumimoji="1" lang="ja-JP" altLang="en-US" dirty="0"/>
          </a:p>
        </p:txBody>
      </p:sp>
      <p:sp>
        <p:nvSpPr>
          <p:cNvPr id="5" name="サブタイトル 2">
            <a:extLst>
              <a:ext uri="{FF2B5EF4-FFF2-40B4-BE49-F238E27FC236}">
                <a16:creationId xmlns:a16="http://schemas.microsoft.com/office/drawing/2014/main" id="{E00580F8-ACCB-6D94-7297-D4206CF80A1E}"/>
              </a:ext>
            </a:extLst>
          </p:cNvPr>
          <p:cNvSpPr txBox="1">
            <a:spLocks/>
          </p:cNvSpPr>
          <p:nvPr/>
        </p:nvSpPr>
        <p:spPr>
          <a:xfrm>
            <a:off x="2585356" y="3848117"/>
            <a:ext cx="6084168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ja-JP" dirty="0"/>
              <a:t>S. H. Schwartz </a:t>
            </a:r>
            <a:r>
              <a:rPr lang="ja-JP" altLang="en-US" dirty="0"/>
              <a:t>価値観モデル版</a:t>
            </a:r>
            <a:endParaRPr lang="en-US" altLang="ja-JP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はじめに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ひとりひとり価値観は異なる。</a:t>
            </a:r>
            <a:endParaRPr lang="en-US" altLang="ja-JP" dirty="0"/>
          </a:p>
          <a:p>
            <a:r>
              <a:rPr kumimoji="1" lang="ja-JP" altLang="en-US" dirty="0"/>
              <a:t>モチベーションも異なる。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個々のモチベーションがどこにあるかをお互い理解していると、コミュニケーションがとりやすい。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むかしは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24744"/>
          </a:xfrm>
        </p:spPr>
        <p:txBody>
          <a:bodyPr/>
          <a:lstStyle/>
          <a:p>
            <a:r>
              <a:rPr lang="ja-JP" altLang="en-US" dirty="0"/>
              <a:t>駅下のおでん屋といった飲み会で明らかに</a:t>
            </a:r>
            <a:endParaRPr lang="en-US" altLang="ja-JP" dirty="0"/>
          </a:p>
          <a:p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タイトル 1"/>
          <p:cNvSpPr txBox="1"/>
          <p:nvPr/>
        </p:nvSpPr>
        <p:spPr>
          <a:xfrm>
            <a:off x="2133600" y="300608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いまは</a:t>
            </a:r>
          </a:p>
        </p:txBody>
      </p:sp>
      <p:sp>
        <p:nvSpPr>
          <p:cNvPr id="5" name="コンテンツ プレースホルダー 2"/>
          <p:cNvSpPr txBox="1"/>
          <p:nvPr/>
        </p:nvSpPr>
        <p:spPr>
          <a:xfrm>
            <a:off x="2042864" y="4149080"/>
            <a:ext cx="8229600" cy="13247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なかなかむずかしい。声をかけるにしても、都合つけるにしても。</a:t>
            </a:r>
            <a:endParaRPr lang="en-US" altLang="ja-JP" dirty="0"/>
          </a:p>
          <a:p>
            <a:r>
              <a:rPr lang="ja-JP" altLang="en-US" dirty="0"/>
              <a:t>そもそも加藤は飲めない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で、</a:t>
            </a:r>
            <a:r>
              <a:rPr lang="en-US" altLang="ja-JP" dirty="0" err="1"/>
              <a:t>ValueCard</a:t>
            </a:r>
            <a:r>
              <a:rPr lang="en-US" altLang="ja-JP" dirty="0"/>
              <a:t> Poker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07368" y="1772816"/>
            <a:ext cx="6192688" cy="403244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１０枚のカードを配る</a:t>
            </a:r>
            <a:endParaRPr lang="en-US" altLang="ja-JP" dirty="0"/>
          </a:p>
          <a:p>
            <a:pPr marL="400050" lvl="1" indent="0">
              <a:buNone/>
            </a:pPr>
            <a:r>
              <a:rPr lang="ja-JP" altLang="en-US" sz="2000" dirty="0"/>
              <a:t>モティベーションの源泉が書いてある</a:t>
            </a:r>
            <a:endParaRPr lang="en-US" altLang="ja-JP" sz="20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お題の設定</a:t>
            </a:r>
            <a:endParaRPr lang="en-US" altLang="ja-JP" dirty="0"/>
          </a:p>
          <a:p>
            <a:pPr marL="400050" lvl="1" indent="0">
              <a:buNone/>
            </a:pPr>
            <a:r>
              <a:rPr lang="ja-JP" altLang="en-US" sz="2000" dirty="0"/>
              <a:t>私の仕事、会社に向けて、プロジェクトに向けてなど</a:t>
            </a:r>
            <a:endParaRPr lang="en-US" altLang="ja-JP" sz="20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選ぶ</a:t>
            </a:r>
            <a:endParaRPr lang="en-US" altLang="ja-JP" dirty="0"/>
          </a:p>
          <a:p>
            <a:pPr marL="0" lvl="1" indent="0">
              <a:buNone/>
            </a:pPr>
            <a:r>
              <a:rPr lang="ja-JP" altLang="en-US" sz="2000" dirty="0"/>
              <a:t>　　　３つ選ぶ。選んだら順番をつける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全員、選んだ３枚を一斉にだす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発表</a:t>
            </a:r>
            <a:endParaRPr lang="en-US" altLang="ja-JP" dirty="0"/>
          </a:p>
          <a:p>
            <a:pPr marL="400050" lvl="1" indent="0">
              <a:buNone/>
            </a:pPr>
            <a:r>
              <a:rPr lang="ja-JP" altLang="en-US" sz="2000" dirty="0"/>
              <a:t>選んだ３枚を１枚１枚理由をつけて説明する</a:t>
            </a:r>
            <a:endParaRPr lang="en-US" altLang="ja-JP" sz="2000" dirty="0"/>
          </a:p>
          <a:p>
            <a:pPr marL="914400" lvl="1" indent="-514350">
              <a:buFont typeface="+mj-lt"/>
              <a:buAutoNum type="arabicPeriod"/>
            </a:pPr>
            <a:endParaRPr lang="en-US" altLang="ja-JP" dirty="0"/>
          </a:p>
        </p:txBody>
      </p:sp>
      <p:pic>
        <p:nvPicPr>
          <p:cNvPr id="5" name="図 4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907C00C2-5D60-B4D5-9B7A-25EBCD005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064" y="1690689"/>
            <a:ext cx="4987037" cy="33507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やる前の</a:t>
            </a:r>
            <a:r>
              <a:rPr lang="ja-JP" altLang="en-US" dirty="0" err="1"/>
              <a:t>お</a:t>
            </a:r>
            <a:r>
              <a:rPr lang="ja-JP" altLang="en-US" dirty="0"/>
              <a:t>やくそくごと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否定はなし</a:t>
            </a:r>
            <a:endParaRPr kumimoji="1" lang="en-US" altLang="ja-JP" dirty="0"/>
          </a:p>
          <a:p>
            <a:pPr lvl="1"/>
            <a:r>
              <a:rPr lang="ja-JP" altLang="en-US" dirty="0"/>
              <a:t>価値観は人さまざま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正直に</a:t>
            </a:r>
            <a:endParaRPr lang="en-US" altLang="ja-JP" dirty="0"/>
          </a:p>
          <a:p>
            <a:pPr lvl="1"/>
            <a:r>
              <a:rPr lang="ja-JP" altLang="en-US" dirty="0"/>
              <a:t>いつわりのモティベーションをだすと、コミュニケーションがむずかしくなる</a:t>
            </a:r>
            <a:endParaRPr lang="en-US" altLang="ja-JP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やってみよう</a:t>
            </a:r>
            <a:r>
              <a:rPr lang="ja-JP" altLang="en-US" sz="2800" dirty="0"/>
              <a:t>　～一般的な遊び方～</a:t>
            </a:r>
            <a:endParaRPr kumimoji="1" lang="ja-JP" altLang="en-US" sz="28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825625"/>
            <a:ext cx="6913984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１０枚のカードを配る</a:t>
            </a:r>
            <a:endParaRPr lang="en-US" altLang="ja-JP" dirty="0"/>
          </a:p>
          <a:p>
            <a:pPr marL="400050" lvl="1" indent="0">
              <a:buNone/>
            </a:pPr>
            <a:r>
              <a:rPr lang="ja-JP" altLang="en-US" sz="2000" dirty="0"/>
              <a:t>モティベーションの源泉が書いてある</a:t>
            </a:r>
            <a:endParaRPr lang="en-US" altLang="ja-JP" sz="20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お題の設定</a:t>
            </a:r>
            <a:endParaRPr lang="en-US" altLang="ja-JP" dirty="0"/>
          </a:p>
          <a:p>
            <a:pPr marL="400050" lvl="1" indent="0">
              <a:buNone/>
            </a:pPr>
            <a:r>
              <a:rPr lang="ja-JP" altLang="en-US" sz="2000" dirty="0"/>
              <a:t>私の仕事、会社に向けて、プロジェクトに向けてなど</a:t>
            </a:r>
            <a:endParaRPr lang="en-US" altLang="ja-JP" sz="20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選ぶ</a:t>
            </a:r>
            <a:endParaRPr lang="en-US" altLang="ja-JP" dirty="0"/>
          </a:p>
          <a:p>
            <a:pPr marL="0" lvl="1" indent="0">
              <a:buNone/>
            </a:pPr>
            <a:r>
              <a:rPr lang="ja-JP" altLang="en-US" sz="2000" dirty="0"/>
              <a:t>　　　３つ選ぶ。選んだら順番をつける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全員、選んだ３枚を一斉にだす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発表</a:t>
            </a:r>
            <a:endParaRPr lang="en-US" altLang="ja-JP" dirty="0"/>
          </a:p>
          <a:p>
            <a:pPr marL="400050" lvl="1" indent="0">
              <a:buNone/>
            </a:pPr>
            <a:r>
              <a:rPr lang="ja-JP" altLang="en-US" sz="2000" dirty="0"/>
              <a:t>選んだ３枚を１枚１枚理由をつけて説明する</a:t>
            </a:r>
            <a:endParaRPr lang="en-US" altLang="ja-JP" sz="2000" dirty="0"/>
          </a:p>
          <a:p>
            <a:pPr marL="914400" lvl="1" indent="-514350">
              <a:buFont typeface="+mj-lt"/>
              <a:buAutoNum type="arabicPeriod"/>
            </a:pPr>
            <a:endParaRPr lang="en-US" altLang="ja-JP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A7AAAF-3DAD-8E79-EC02-68CDF40B0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013" y="1711277"/>
            <a:ext cx="3996852" cy="4077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F07E8-A0F2-B378-E6A6-1A1A59FB2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10BBF3-28D6-38C2-E0CD-22FBFBF4E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231229"/>
            <a:ext cx="11353800" cy="1325563"/>
          </a:xfrm>
        </p:spPr>
        <p:txBody>
          <a:bodyPr/>
          <a:lstStyle/>
          <a:p>
            <a:r>
              <a:rPr lang="ja-JP" altLang="en-US" dirty="0"/>
              <a:t>やってみよう　</a:t>
            </a:r>
            <a:r>
              <a:rPr lang="ja-JP" altLang="en-US" sz="2800" dirty="0"/>
              <a:t>～本日はユドナリウムを使ってデモします～</a:t>
            </a:r>
            <a:endParaRPr kumimoji="1" lang="ja-JP" altLang="en-US" sz="2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F12092-C514-64E2-6F35-145EB6858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556792"/>
            <a:ext cx="5976664" cy="46805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dirty="0"/>
              <a:t>１．本日のお題</a:t>
            </a:r>
            <a:br>
              <a:rPr kumimoji="1" lang="en-US" altLang="ja-JP" dirty="0"/>
            </a:br>
            <a:r>
              <a:rPr kumimoji="1" lang="ja-JP" altLang="en-US" sz="2400" dirty="0"/>
              <a:t>カードに記載してある単語に「ピン！」ときた</a:t>
            </a:r>
            <a:r>
              <a:rPr kumimoji="1" lang="en-US" altLang="ja-JP" sz="2400" dirty="0"/>
              <a:t>3</a:t>
            </a:r>
            <a:r>
              <a:rPr kumimoji="1" lang="ja-JP" altLang="en-US" sz="2400" dirty="0"/>
              <a:t>枚を選ぶ</a:t>
            </a:r>
            <a:endParaRPr kumimoji="1" lang="en-US" altLang="ja-JP" sz="2400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２．まずは５枚選ぶ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sz="2400" dirty="0"/>
              <a:t>逆に「これはない」というカードを除外していってもよい</a:t>
            </a:r>
            <a:endParaRPr lang="en-US" altLang="ja-JP" sz="2400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３．さらに３枚選ぶ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４．最後に、選んだ３枚から順番をつける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112970F-3D1D-8ACD-FFF3-CB2CF4468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684365"/>
              </p:ext>
            </p:extLst>
          </p:nvPr>
        </p:nvGraphicFramePr>
        <p:xfrm>
          <a:off x="7573380" y="5560719"/>
          <a:ext cx="3456384" cy="373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56384">
                  <a:extLst>
                    <a:ext uri="{9D8B030D-6E8A-4147-A177-3AD203B41FA5}">
                      <a16:colId xmlns:a16="http://schemas.microsoft.com/office/drawing/2014/main" val="614687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2400" u="sng" strike="noStrike" dirty="0">
                          <a:effectLst/>
                          <a:hlinkClick r:id="rId2"/>
                        </a:rPr>
                        <a:t>https://udonarium.app/</a:t>
                      </a:r>
                      <a:endParaRPr lang="fr-FR" sz="2400" b="0" i="0" u="sng" strike="noStrike" dirty="0">
                        <a:solidFill>
                          <a:srgbClr val="467886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16080453"/>
                  </a:ext>
                </a:extLst>
              </a:tr>
            </a:tbl>
          </a:graphicData>
        </a:graphic>
      </p:graphicFrame>
      <p:pic>
        <p:nvPicPr>
          <p:cNvPr id="5" name="図 4">
            <a:extLst>
              <a:ext uri="{FF2B5EF4-FFF2-40B4-BE49-F238E27FC236}">
                <a16:creationId xmlns:a16="http://schemas.microsoft.com/office/drawing/2014/main" id="{A1296BF9-CBD5-499E-9353-76958E9EF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247" y="1916832"/>
            <a:ext cx="5244737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377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6D94B8-DB3F-8683-6490-9CE16AC44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6193904" cy="759618"/>
          </a:xfrm>
        </p:spPr>
        <p:txBody>
          <a:bodyPr/>
          <a:lstStyle/>
          <a:p>
            <a:r>
              <a:rPr kumimoji="1" lang="ja-JP" altLang="en-US" dirty="0"/>
              <a:t>シュワルツの価値理論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A4FBBD-C95F-F269-724B-DE7F247CA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424" y="4763522"/>
            <a:ext cx="10369152" cy="1729351"/>
          </a:xfrm>
        </p:spPr>
        <p:txBody>
          <a:bodyPr>
            <a:normAutofit fontScale="70000" lnSpcReduction="20000"/>
          </a:bodyPr>
          <a:lstStyle/>
          <a:p>
            <a:r>
              <a:rPr kumimoji="1" lang="ja-JP" altLang="en-US" dirty="0"/>
              <a:t>シュワルツの価値理論では、</a:t>
            </a:r>
            <a:r>
              <a:rPr kumimoji="1" lang="en-US" altLang="ja-JP" dirty="0"/>
              <a:t>10</a:t>
            </a:r>
            <a:r>
              <a:rPr kumimoji="1" lang="ja-JP" altLang="en-US" dirty="0"/>
              <a:t>個の価値が円環状に整理されている（</a:t>
            </a:r>
            <a:r>
              <a:rPr kumimoji="1" lang="en-US" altLang="ja-JP" dirty="0"/>
              <a:t>SVS; Schwartz Value Survey)		</a:t>
            </a:r>
          </a:p>
          <a:p>
            <a:r>
              <a:rPr kumimoji="1" lang="ja-JP" altLang="en-US" dirty="0"/>
              <a:t>強い相関がある価値同士を近距離に、弱い相関がある価値同士は遠距離にある関係	</a:t>
            </a:r>
          </a:p>
          <a:p>
            <a:r>
              <a:rPr kumimoji="1" lang="ja-JP" altLang="en-US" dirty="0"/>
              <a:t>上位価値として以下の４つの価値が対極的に位置づけられている	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変化への開放性（</a:t>
            </a:r>
            <a:r>
              <a:rPr kumimoji="1" lang="en-US" altLang="ja-JP" dirty="0"/>
              <a:t>Openness to change) </a:t>
            </a:r>
            <a:r>
              <a:rPr kumimoji="1" lang="ja-JP" altLang="en-US" dirty="0"/>
              <a:t>ー 保存（保守） </a:t>
            </a:r>
            <a:r>
              <a:rPr kumimoji="1" lang="en-US" altLang="ja-JP" dirty="0"/>
              <a:t>Conservation</a:t>
            </a:r>
          </a:p>
          <a:p>
            <a:pPr lvl="1"/>
            <a:r>
              <a:rPr kumimoji="1" lang="ja-JP" altLang="en-US" dirty="0"/>
              <a:t>自己超越（</a:t>
            </a:r>
            <a:r>
              <a:rPr kumimoji="1" lang="en-US" altLang="ja-JP" dirty="0"/>
              <a:t>Self-transcendence) - </a:t>
            </a:r>
            <a:r>
              <a:rPr kumimoji="1" lang="ja-JP" altLang="en-US" dirty="0"/>
              <a:t>自己増進（</a:t>
            </a:r>
            <a:r>
              <a:rPr kumimoji="1" lang="en-US" altLang="ja-JP" dirty="0"/>
              <a:t>Self-enhancement )</a:t>
            </a:r>
          </a:p>
        </p:txBody>
      </p:sp>
      <p:pic>
        <p:nvPicPr>
          <p:cNvPr id="4" name="図 3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59CBA02D-AE9E-29A0-65B7-FAFCC25C1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52" y="1268761"/>
            <a:ext cx="3429507" cy="2304256"/>
          </a:xfrm>
          <a:prstGeom prst="rect">
            <a:avLst/>
          </a:prstGeom>
        </p:spPr>
      </p:pic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C6389EC8-D63A-47AD-0284-2738B679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840055"/>
              </p:ext>
            </p:extLst>
          </p:nvPr>
        </p:nvGraphicFramePr>
        <p:xfrm>
          <a:off x="7464152" y="6474702"/>
          <a:ext cx="4320480" cy="324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0480">
                  <a:extLst>
                    <a:ext uri="{9D8B030D-6E8A-4147-A177-3AD203B41FA5}">
                      <a16:colId xmlns:a16="http://schemas.microsoft.com/office/drawing/2014/main" val="2012913033"/>
                    </a:ext>
                  </a:extLst>
                </a:gridCol>
              </a:tblGrid>
              <a:tr h="32437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ja-JP" altLang="en-US" sz="800" u="none" strike="noStrike" dirty="0">
                          <a:effectLst/>
                        </a:rPr>
                        <a:t>坂野、武藤 「「価値」の機能とは何か：</a:t>
                      </a:r>
                      <a:br>
                        <a:rPr lang="ja-JP" altLang="en-US" sz="800" u="none" strike="noStrike" dirty="0">
                          <a:effectLst/>
                        </a:rPr>
                      </a:br>
                      <a:r>
                        <a:rPr lang="ja-JP" altLang="en-US" sz="800" u="none" strike="noStrike" dirty="0">
                          <a:effectLst/>
                        </a:rPr>
                        <a:t>実証に基づく価値研究についての展望」 心理臨床科学，第２巻，第１号，</a:t>
                      </a:r>
                      <a:r>
                        <a:rPr lang="en-US" altLang="ja-JP" sz="800" u="none" strike="noStrike" dirty="0">
                          <a:effectLst/>
                        </a:rPr>
                        <a:t>69-80</a:t>
                      </a:r>
                      <a:r>
                        <a:rPr lang="ja-JP" altLang="en-US" sz="800" u="none" strike="noStrike" dirty="0">
                          <a:effectLst/>
                        </a:rPr>
                        <a:t>，</a:t>
                      </a:r>
                      <a:r>
                        <a:rPr lang="en-US" altLang="ja-JP" sz="800" u="none" strike="noStrike" dirty="0">
                          <a:effectLst/>
                        </a:rPr>
                        <a:t>2012</a:t>
                      </a:r>
                      <a:endParaRPr lang="en-US" altLang="ja-JP" sz="8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61648923"/>
                  </a:ext>
                </a:extLst>
              </a:tr>
            </a:tbl>
          </a:graphicData>
        </a:graphic>
      </p:graphicFrame>
      <p:pic>
        <p:nvPicPr>
          <p:cNvPr id="6" name="図 5">
            <a:extLst>
              <a:ext uri="{FF2B5EF4-FFF2-40B4-BE49-F238E27FC236}">
                <a16:creationId xmlns:a16="http://schemas.microsoft.com/office/drawing/2014/main" id="{190A4A81-BD0E-2548-9A1C-8C51DD334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848" y="1335278"/>
            <a:ext cx="5904656" cy="327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12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5921-816E-1AE2-936D-79C50BB42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A6B1C4-A385-95F4-95D8-619E04DA1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6193904" cy="759618"/>
          </a:xfrm>
        </p:spPr>
        <p:txBody>
          <a:bodyPr/>
          <a:lstStyle/>
          <a:p>
            <a:r>
              <a:rPr kumimoji="1" lang="ja-JP" altLang="en-US" dirty="0"/>
              <a:t>シュワルツの価値理論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68E862-E7C1-CA3B-F005-0B555134C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528283"/>
            <a:ext cx="5040560" cy="118575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dirty="0"/>
              <a:t>たとえば、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「達成」「自己決定」「刺激」に価値があるとした場合</a:t>
            </a:r>
            <a:endParaRPr kumimoji="1" lang="en-US" altLang="ja-JP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52DF13B-6354-69CE-8A5A-F30B92695286}"/>
              </a:ext>
            </a:extLst>
          </p:cNvPr>
          <p:cNvGrpSpPr/>
          <p:nvPr/>
        </p:nvGrpSpPr>
        <p:grpSpPr>
          <a:xfrm>
            <a:off x="5663952" y="1412776"/>
            <a:ext cx="5400600" cy="3211242"/>
            <a:chOff x="4232531" y="2323011"/>
            <a:chExt cx="3726937" cy="2211977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81C03995-3A0F-4284-DF9D-DCE592720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32531" y="2323011"/>
              <a:ext cx="3726937" cy="2211977"/>
            </a:xfrm>
            <a:prstGeom prst="rect">
              <a:avLst/>
            </a:prstGeom>
          </p:spPr>
        </p:pic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288C935A-2641-47E6-B5F6-945C390A028A}"/>
                </a:ext>
              </a:extLst>
            </p:cNvPr>
            <p:cNvSpPr/>
            <p:nvPr/>
          </p:nvSpPr>
          <p:spPr>
            <a:xfrm>
              <a:off x="5369272" y="3576774"/>
              <a:ext cx="342900" cy="30371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AD304C8F-3BC8-4562-AA7F-7EE511327B12}"/>
                </a:ext>
              </a:extLst>
            </p:cNvPr>
            <p:cNvSpPr/>
            <p:nvPr/>
          </p:nvSpPr>
          <p:spPr>
            <a:xfrm>
              <a:off x="5731222" y="2659108"/>
              <a:ext cx="339090" cy="30371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AA467E40-449A-4AB8-B57E-D40E543007E1}"/>
                </a:ext>
              </a:extLst>
            </p:cNvPr>
            <p:cNvSpPr/>
            <p:nvPr/>
          </p:nvSpPr>
          <p:spPr>
            <a:xfrm>
              <a:off x="5426422" y="2838995"/>
              <a:ext cx="342900" cy="31133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</p:grp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50FD89-5C6B-9448-2982-B5C68D14EE2B}"/>
              </a:ext>
            </a:extLst>
          </p:cNvPr>
          <p:cNvSpPr txBox="1">
            <a:spLocks/>
          </p:cNvSpPr>
          <p:nvPr/>
        </p:nvSpPr>
        <p:spPr>
          <a:xfrm>
            <a:off x="911424" y="4763522"/>
            <a:ext cx="10369152" cy="17293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変化への開放性</a:t>
            </a:r>
          </a:p>
          <a:p>
            <a:r>
              <a:rPr lang="ja-JP" altLang="en-US" dirty="0"/>
              <a:t>自己増進（自己高揚；自己をより良い方向へ成長させ、向上させるための意識的な努力や行動）に価値の重きを追う人といえそう</a:t>
            </a:r>
          </a:p>
        </p:txBody>
      </p:sp>
    </p:spTree>
    <p:extLst>
      <p:ext uri="{BB962C8B-B14F-4D97-AF65-F5344CB8AC3E}">
        <p14:creationId xmlns:p14="http://schemas.microsoft.com/office/powerpoint/2010/main" val="114931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1E5E6-FB01-CB8E-9FF3-0D0FC598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C919DC-5EE0-8A0A-0FC6-050111204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6193904" cy="759618"/>
          </a:xfrm>
        </p:spPr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076DA80B-CD96-462D-5628-84068E244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792"/>
            <a:ext cx="10515600" cy="4351338"/>
          </a:xfrm>
        </p:spPr>
        <p:txBody>
          <a:bodyPr/>
          <a:lstStyle/>
          <a:p>
            <a:r>
              <a:rPr lang="en-US" altLang="ja-JP" dirty="0" err="1"/>
              <a:t>ValueCard</a:t>
            </a:r>
            <a:r>
              <a:rPr lang="en-US" altLang="ja-JP" dirty="0"/>
              <a:t> Poker</a:t>
            </a:r>
            <a:r>
              <a:rPr lang="ja-JP" altLang="en-US" dirty="0"/>
              <a:t>の紹介</a:t>
            </a:r>
            <a:endParaRPr lang="en-US" altLang="ja-JP" dirty="0"/>
          </a:p>
          <a:p>
            <a:pPr lvl="1"/>
            <a:r>
              <a:rPr lang="ja-JP" altLang="en-US" dirty="0"/>
              <a:t>やる意義</a:t>
            </a:r>
            <a:endParaRPr lang="en-US" altLang="ja-JP" dirty="0"/>
          </a:p>
          <a:p>
            <a:pPr lvl="1"/>
            <a:r>
              <a:rPr lang="ja-JP" altLang="en-US" dirty="0"/>
              <a:t>進め方</a:t>
            </a:r>
            <a:endParaRPr lang="en-US" altLang="ja-JP" dirty="0"/>
          </a:p>
          <a:p>
            <a:pPr lvl="1"/>
            <a:r>
              <a:rPr lang="ja-JP" altLang="en-US" dirty="0"/>
              <a:t>オンラインを使ったデモ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en-US" altLang="ja-JP" dirty="0" err="1"/>
              <a:t>ValueCard</a:t>
            </a:r>
            <a:r>
              <a:rPr lang="ja-JP" altLang="en-US" dirty="0"/>
              <a:t>のもとになったシュワルツの価値理論の紹介</a:t>
            </a:r>
            <a:endParaRPr lang="en-US" altLang="ja-JP" dirty="0"/>
          </a:p>
          <a:p>
            <a:pPr lvl="1"/>
            <a:r>
              <a:rPr lang="ja-JP" altLang="en-US" dirty="0"/>
              <a:t>さわりだけ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上記をつうじた 加藤のひととなりの紹介 </a:t>
            </a:r>
            <a:r>
              <a:rPr lang="ja-JP" altLang="en-US" sz="2000" dirty="0"/>
              <a:t>になっていれば幸いです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735129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6CFBA-A510-4A02-DC8D-4E16770F7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ADA163-3FF0-B7BD-C62D-9CA99ACE2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90248" cy="1191665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どうもありがとうございました！</a:t>
            </a:r>
          </a:p>
        </p:txBody>
      </p:sp>
    </p:spTree>
    <p:extLst>
      <p:ext uri="{BB962C8B-B14F-4D97-AF65-F5344CB8AC3E}">
        <p14:creationId xmlns:p14="http://schemas.microsoft.com/office/powerpoint/2010/main" val="3315396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本日のお題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ja-JP" altLang="en-US" dirty="0"/>
              <a:t>まず、今までで一番テンションあがった案件・テーマ・プロジェクトを思い起こしてみましょう。</a:t>
            </a:r>
            <a:endParaRPr lang="en-US" altLang="ja-JP" dirty="0"/>
          </a:p>
          <a:p>
            <a:pPr marL="0" indent="0" algn="ctr">
              <a:buNone/>
            </a:pP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○○になっていると、俄然やる気がでる</a:t>
            </a:r>
            <a:endParaRPr lang="en-US" altLang="ja-JP" dirty="0"/>
          </a:p>
          <a:p>
            <a:pPr marL="0" indent="0" algn="ctr">
              <a:buNone/>
            </a:pPr>
            <a:r>
              <a:rPr kumimoji="1" lang="ja-JP" altLang="en-US" dirty="0"/>
              <a:t>○○な状態になっていたい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発表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どんな案件・テーマ・プロジェクトだったか</a:t>
            </a:r>
            <a:endParaRPr lang="en-US" altLang="ja-JP" dirty="0"/>
          </a:p>
          <a:p>
            <a:pPr marL="400050" lvl="1" indent="0">
              <a:buNone/>
            </a:pPr>
            <a:r>
              <a:rPr lang="ja-JP" altLang="en-US" sz="2000" dirty="0"/>
              <a:t>全員が「あの話ね」とわかる程度で</a:t>
            </a:r>
            <a:endParaRPr lang="en-US" altLang="ja-JP" sz="2000" dirty="0"/>
          </a:p>
          <a:p>
            <a:pPr marL="400050" lvl="1" indent="0">
              <a:buNone/>
            </a:pP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dirty="0"/>
              <a:t>選んだ３枚を１枚１枚理由をつけて説明する</a:t>
            </a:r>
            <a:endParaRPr lang="en-US" altLang="ja-JP" dirty="0"/>
          </a:p>
          <a:p>
            <a:pPr marL="457200" indent="-457200">
              <a:buFont typeface="+mj-lt"/>
              <a:buAutoNum type="arabicPeriod"/>
            </a:pP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dirty="0">
                <a:latin typeface="+mn-ea"/>
              </a:rPr>
              <a:t>持ち時間</a:t>
            </a:r>
            <a:r>
              <a:rPr lang="en-US" altLang="ja-JP" dirty="0">
                <a:latin typeface="+mn-ea"/>
              </a:rPr>
              <a:t>3</a:t>
            </a:r>
            <a:r>
              <a:rPr lang="ja-JP" altLang="en-US" dirty="0">
                <a:latin typeface="+mn-ea"/>
              </a:rPr>
              <a:t>分</a:t>
            </a:r>
            <a:endParaRPr lang="en-US" altLang="ja-JP" dirty="0">
              <a:latin typeface="+mn-ea"/>
            </a:endParaRPr>
          </a:p>
          <a:p>
            <a:pPr marL="0" indent="0">
              <a:buNone/>
            </a:pPr>
            <a:endParaRPr lang="en-US" altLang="ja-JP" sz="2400" dirty="0"/>
          </a:p>
          <a:p>
            <a:pPr marL="914400" lvl="1" indent="-514350">
              <a:buFont typeface="+mj-lt"/>
              <a:buAutoNum type="arabicPeriod"/>
            </a:pPr>
            <a:endParaRPr lang="en-US" altLang="ja-JP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本日のお題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kumimoji="1" lang="ja-JP" altLang="en-US" dirty="0"/>
              <a:t>私の仕事に対するモティベーション</a:t>
            </a:r>
            <a:endParaRPr kumimoji="1" lang="en-US" altLang="ja-JP" dirty="0"/>
          </a:p>
          <a:p>
            <a:pPr marL="0" indent="0" algn="ctr">
              <a:buNone/>
            </a:pP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○○になっていると、俄然やる気がでる</a:t>
            </a:r>
            <a:endParaRPr lang="en-US" altLang="ja-JP" dirty="0"/>
          </a:p>
          <a:p>
            <a:pPr marL="0" indent="0" algn="ctr">
              <a:buNone/>
            </a:pPr>
            <a:r>
              <a:rPr kumimoji="1" lang="ja-JP" altLang="en-US" dirty="0"/>
              <a:t>○○な状態になっていたい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参考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54887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ja-JP">
                <a:hlinkClick r:id="rId2"/>
              </a:rPr>
              <a:t>http://qiita.com/radiocat/items/5639ae676ce3b52b3a3f</a:t>
            </a:r>
            <a:endParaRPr lang="en-US" altLang="ja-JP"/>
          </a:p>
          <a:p>
            <a:pPr marL="0" indent="0">
              <a:buNone/>
            </a:pPr>
            <a:r>
              <a:rPr lang="en-US" altLang="ja-JP" dirty="0">
                <a:hlinkClick r:id="rId2"/>
              </a:rPr>
              <a:t>http://nuworks.jp/ja/2016/10/26/moving-motivators/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sz="1600" dirty="0"/>
              <a:t>面接の時に聞いてよかった質問と、意味がなかった質問をまとめてみた</a:t>
            </a:r>
            <a:endParaRPr lang="en-US" altLang="ja-JP" sz="1600" dirty="0"/>
          </a:p>
          <a:p>
            <a:pPr marL="0" indent="0">
              <a:buNone/>
            </a:pPr>
            <a:r>
              <a:rPr lang="en-US" altLang="ja-JP" dirty="0"/>
              <a:t>https://www.wantedly.com/companies/Supership/post_articles/52240</a:t>
            </a:r>
            <a:endParaRPr kumimoji="1" lang="ja-JP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693</Words>
  <Application>Microsoft Office PowerPoint</Application>
  <PresentationFormat>ワイド画面</PresentationFormat>
  <Paragraphs>99</Paragraphs>
  <Slides>15</Slides>
  <Notes>1</Notes>
  <HiddenSlides>3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デザインの設定</vt:lpstr>
      <vt:lpstr>ValueCard Poker をやってみよう</vt:lpstr>
      <vt:lpstr>はじめに</vt:lpstr>
      <vt:lpstr>むかしは</vt:lpstr>
      <vt:lpstr>で、ValueCard Poker</vt:lpstr>
      <vt:lpstr>やる前のおやくそくごと</vt:lpstr>
      <vt:lpstr>やってみよう　～一般的な遊び方～</vt:lpstr>
      <vt:lpstr>やってみよう　～本日はユドナリウムを使ってデモします～</vt:lpstr>
      <vt:lpstr>シュワルツの価値理論</vt:lpstr>
      <vt:lpstr>シュワルツの価値理論</vt:lpstr>
      <vt:lpstr>まとめ</vt:lpstr>
      <vt:lpstr>どうもありがとうございました！</vt:lpstr>
      <vt:lpstr>本日のお題</vt:lpstr>
      <vt:lpstr>発表</vt:lpstr>
      <vt:lpstr>本日のお題</vt:lpstr>
      <vt:lpstr>参考</vt:lpstr>
    </vt:vector>
  </TitlesOfParts>
  <Company>ブラザー工業株式会社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モチベーションポーカー をやってみよう</dc:title>
  <dc:creator>Kato, Hiroshi (BIL-DEV STD) 加藤 裕史</dc:creator>
  <cp:lastModifiedBy>加藤 裕史</cp:lastModifiedBy>
  <cp:revision>15</cp:revision>
  <dcterms:created xsi:type="dcterms:W3CDTF">2017-01-14T04:53:00Z</dcterms:created>
  <dcterms:modified xsi:type="dcterms:W3CDTF">2026-01-27T07:44:00Z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1041-10.8.0.5423</vt:lpwstr>
  </property>
</Properties>
</file>