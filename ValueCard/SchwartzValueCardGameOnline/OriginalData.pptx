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E74732-089F-8281-E743-6D3C640CC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BA6BAE-5F00-A2E5-87E9-EBBA9B670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3C1BA1-7661-0A53-0993-2B4D3989F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E0AEB8-029E-BFAB-89BE-2CC935823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C584D1F-68CC-2099-1B9E-2E8C56EDE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6910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9CCAA-7D43-7B51-09FC-D1E09B9BB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4F3F6D0-A51C-5785-8E95-AE90CCF12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FB321D-3867-E9CD-C0CB-992E62366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386AE0-A487-C519-710C-46EFA42EE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0AD0774-BCBB-7C95-8606-5B34D804E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642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977D5B-46DB-DD2C-8FB6-C9D03E006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910ACB3-104B-7B1C-05D5-08C29B818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E817B20-A0DB-AFD4-3AFD-9706DE8DD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097F278-2225-62B1-BA88-A752EEC3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4B3C8D7-DC59-AEF2-FE0C-FDEFE6694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98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615805-54AB-69AB-FA06-3DC67B8B4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BA42913-AF9F-F7E7-7C17-17B185FEC8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ECCBC62-CA4C-0412-12BA-5821B72A0C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1135C39-3DC4-3671-A877-407E9CD3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311C092-3B6F-1242-8323-6940591E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22B29A-6B33-F575-C3A6-629A1DEB4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680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264463-5630-B99D-C03E-BC24BA033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EE704D3-680F-1B5B-6DB9-D4DE64F614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380A94C-6131-30FD-9EB0-C1D47C2B54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0F4C6C2-26D3-D1D3-EEA6-201D35B2F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0648425-F9FB-6CB1-EC0C-C7B375CB68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1647E14-E679-1ABA-9039-738722D8F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030A744-CD12-3EBC-CB89-1F9334AE4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57CBFA-104E-D69A-E1FB-DB422E8E7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5456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90267B-BE89-984D-E4B9-9C2A32FBD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334D860-C922-6E33-5DCB-872778A36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B5FAFE-D188-DFDF-B8D6-4C9BA6AC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9003785-2A42-4A43-BC5E-502BA1C5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781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6805235-A605-ED19-376E-DA24143F6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66869E2-104F-A5BC-D253-5FF09F2C0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ED8B2EA-A3ED-B31B-967C-540D70DF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23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5AA7B9-25F2-3456-12BC-A036B2629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FEF4C9-F9A3-399A-F85B-9A01306F3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36CAD65-14D4-4513-E928-99280172F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A8C118E-AB7A-D347-14B9-F7AA161A8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E68EF2-0378-F100-5279-3BC6EABEF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88439EE-8A89-D5B5-4CA7-023DC1ADB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5410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FFD578-2126-2479-E8C7-A914EAAB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4D43BB6-C928-335A-B901-450D013CA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1817F2-613F-F668-E7F1-BE6E46D04C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403E00-C5CD-86C3-D91D-86B498CC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2223D45-FFA5-0193-F5E7-B57A1E86C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C5C9A3E-A68A-66CD-22AF-E33302FC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2463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236ECD-E066-316D-045B-FE51DE07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0B3A9B-F59F-D2D1-30B4-B248F00324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5563B9-92BF-7ED4-BDBC-44C652BCE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E11367B-EFD0-F458-B5DD-204075711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B47BF1-C901-5296-CF8C-FF3416E5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7022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B2AF7CC-D2EF-CD61-204D-7101ED22F8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AF6B96A-BD85-B5FF-D1D7-9BD31E019A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7788678-0A10-EE35-8B50-D5D7FEDD5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2280BD-5679-E661-3B9C-085508EA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368D77A-7482-E4AA-1C24-46E8AC2F3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9285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B0A16BF-BBEE-A9EF-6228-C35A98DDC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BEEED3-B745-AB0B-5722-5E8276164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8E0AAD-D161-3050-40FC-77BA0A307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092B1-655D-4275-85B4-DE8BFE4915E0}" type="datetimeFigureOut">
              <a:rPr kumimoji="1" lang="ja-JP" altLang="en-US" smtClean="0"/>
              <a:t>2025/6/11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1FC0FE8-6D64-E1F5-7A86-E028FE743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0C5ADF-7748-141E-2105-17484A8013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DA8A98-F5D7-41B3-8155-10AF64D420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60445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C713FA67-D36B-5CE3-4B85-97F4151D26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913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774AAE9-6478-2A0B-A68A-1C71F66A39FB}"/>
              </a:ext>
            </a:extLst>
          </p:cNvPr>
          <p:cNvSpPr/>
          <p:nvPr/>
        </p:nvSpPr>
        <p:spPr>
          <a:xfrm>
            <a:off x="-1" y="319944"/>
            <a:ext cx="12196800" cy="15437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663F5F-0D17-AF17-2E6A-6283C6212327}"/>
              </a:ext>
            </a:extLst>
          </p:cNvPr>
          <p:cNvSpPr txBox="1"/>
          <p:nvPr/>
        </p:nvSpPr>
        <p:spPr>
          <a:xfrm>
            <a:off x="821376" y="2136962"/>
            <a:ext cx="49712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10</a:t>
            </a:r>
            <a:r>
              <a:rPr kumimoji="1" lang="ja-JP" altLang="en-US" sz="1400" dirty="0"/>
              <a:t>枚のカードからピンをきたカード</a:t>
            </a:r>
            <a:r>
              <a:rPr kumimoji="1" lang="en-US" altLang="ja-JP" sz="1400" dirty="0"/>
              <a:t>5</a:t>
            </a:r>
            <a:r>
              <a:rPr kumimoji="1" lang="ja-JP" altLang="en-US" sz="1400" dirty="0"/>
              <a:t>枚選んでココ</a:t>
            </a:r>
            <a:r>
              <a:rPr lang="ja-JP" altLang="en-US" sz="1400" dirty="0"/>
              <a:t>↓におく</a:t>
            </a:r>
            <a:endParaRPr kumimoji="1" lang="en-US" altLang="ja-JP" sz="1400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38A0966-EDAD-68FB-F274-48A3BBE6B3CF}"/>
              </a:ext>
            </a:extLst>
          </p:cNvPr>
          <p:cNvSpPr/>
          <p:nvPr/>
        </p:nvSpPr>
        <p:spPr>
          <a:xfrm>
            <a:off x="2952997" y="2431866"/>
            <a:ext cx="6098400" cy="154379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58BBCA7-1103-B5A6-75D1-A06B95B8ED22}"/>
              </a:ext>
            </a:extLst>
          </p:cNvPr>
          <p:cNvSpPr txBox="1"/>
          <p:nvPr/>
        </p:nvSpPr>
        <p:spPr>
          <a:xfrm>
            <a:off x="819397" y="4351894"/>
            <a:ext cx="55707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さらに５枚のカードからピンをきたカード</a:t>
            </a:r>
            <a:r>
              <a:rPr lang="ja-JP" altLang="en-US" sz="1400" dirty="0"/>
              <a:t>３</a:t>
            </a:r>
            <a:r>
              <a:rPr kumimoji="1" lang="ja-JP" altLang="en-US" sz="1400" dirty="0"/>
              <a:t>枚選んでココ</a:t>
            </a:r>
            <a:r>
              <a:rPr lang="ja-JP" altLang="en-US" sz="1400" dirty="0"/>
              <a:t>↓におく</a:t>
            </a:r>
            <a:endParaRPr kumimoji="1" lang="en-US" altLang="ja-JP" sz="14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140C2C1-A3B6-5CB9-B6CE-81448D7BC733}"/>
              </a:ext>
            </a:extLst>
          </p:cNvPr>
          <p:cNvSpPr/>
          <p:nvPr/>
        </p:nvSpPr>
        <p:spPr>
          <a:xfrm>
            <a:off x="4080361" y="4674324"/>
            <a:ext cx="3657600" cy="154379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22BE1FF-61AC-7C73-C6D4-6C56E67EB96E}"/>
              </a:ext>
            </a:extLst>
          </p:cNvPr>
          <p:cNvSpPr txBox="1"/>
          <p:nvPr/>
        </p:nvSpPr>
        <p:spPr>
          <a:xfrm>
            <a:off x="843149" y="33053"/>
            <a:ext cx="27174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10</a:t>
            </a:r>
            <a:r>
              <a:rPr kumimoji="1" lang="ja-JP" altLang="en-US" sz="1400" dirty="0"/>
              <a:t>枚のカードをならべて眺める</a:t>
            </a:r>
            <a:endParaRPr kumimoji="1" lang="en-US" altLang="ja-JP" sz="1400" dirty="0"/>
          </a:p>
          <a:p>
            <a:endParaRPr kumimoji="1" lang="en-US" altLang="ja-JP" sz="1400" dirty="0"/>
          </a:p>
        </p:txBody>
      </p:sp>
      <p:pic>
        <p:nvPicPr>
          <p:cNvPr id="9" name="図 8" descr="横たわる猫たち&#10;&#10;AI 生成コンテンツは誤りを含む可能性があります。">
            <a:extLst>
              <a:ext uri="{FF2B5EF4-FFF2-40B4-BE49-F238E27FC236}">
                <a16:creationId xmlns:a16="http://schemas.microsoft.com/office/drawing/2014/main" id="{B61F033E-0BD1-1AE6-D0ED-A7D96AAEF3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20" y="4543788"/>
            <a:ext cx="1529444" cy="1863736"/>
          </a:xfrm>
          <a:prstGeom prst="rect">
            <a:avLst/>
          </a:prstGeom>
        </p:spPr>
      </p:pic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715B871-0842-F913-6CBC-D6B09847F724}"/>
              </a:ext>
            </a:extLst>
          </p:cNvPr>
          <p:cNvSpPr txBox="1"/>
          <p:nvPr/>
        </p:nvSpPr>
        <p:spPr>
          <a:xfrm>
            <a:off x="864919" y="6356845"/>
            <a:ext cx="67473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最後に</a:t>
            </a:r>
            <a:r>
              <a:rPr kumimoji="1" lang="en-US" altLang="ja-JP" sz="1400" dirty="0"/>
              <a:t>1</a:t>
            </a:r>
            <a:r>
              <a:rPr kumimoji="1" lang="ja-JP" altLang="en-US" sz="1400" dirty="0"/>
              <a:t>番気に入ったカードを真ん中に、２番目を左に、３番目を右に並べ替える</a:t>
            </a:r>
            <a:endParaRPr kumimoji="1"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997046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8CB8CCB-5E7F-0C46-D834-208105DE9867}"/>
              </a:ext>
            </a:extLst>
          </p:cNvPr>
          <p:cNvGrpSpPr/>
          <p:nvPr/>
        </p:nvGrpSpPr>
        <p:grpSpPr>
          <a:xfrm>
            <a:off x="1739588" y="1205344"/>
            <a:ext cx="1516380" cy="2286000"/>
            <a:chOff x="231421" y="195943"/>
            <a:chExt cx="1516380" cy="2286000"/>
          </a:xfrm>
        </p:grpSpPr>
        <p:pic>
          <p:nvPicPr>
            <p:cNvPr id="3" name="図 2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88807333-24B6-5F42-9A3A-0A170845B9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1421" y="195943"/>
              <a:ext cx="1516380" cy="2286000"/>
            </a:xfrm>
            <a:prstGeom prst="rect">
              <a:avLst/>
            </a:prstGeom>
          </p:spPr>
        </p:pic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226296AC-C700-6936-9732-502E9EB63B36}"/>
                </a:ext>
              </a:extLst>
            </p:cNvPr>
            <p:cNvSpPr txBox="1"/>
            <p:nvPr/>
          </p:nvSpPr>
          <p:spPr>
            <a:xfrm>
              <a:off x="360219" y="584890"/>
              <a:ext cx="1258784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ja-JP" b="1" dirty="0"/>
                <a:t>権力</a:t>
              </a:r>
              <a:endParaRPr lang="ja-JP" altLang="ja-JP" dirty="0"/>
            </a:p>
            <a:p>
              <a:pPr algn="ctr"/>
              <a:r>
                <a:rPr lang="fr-FR" altLang="ja-JP" b="1" dirty="0"/>
                <a:t> </a:t>
              </a:r>
              <a:endParaRPr lang="ja-JP" altLang="ja-JP" dirty="0"/>
            </a:p>
            <a:p>
              <a:pPr algn="ctr"/>
              <a:r>
                <a:rPr lang="ja-JP" altLang="ja-JP" sz="1400" dirty="0"/>
                <a:t>社会的パワー権威、富</a:t>
              </a:r>
            </a:p>
            <a:p>
              <a:pPr algn="ctr"/>
              <a:r>
                <a:rPr lang="ja-JP" altLang="ja-JP" sz="1400" dirty="0"/>
                <a:t>面子の維持</a:t>
              </a:r>
              <a:endParaRPr lang="en-US" altLang="ja-JP" sz="1400" dirty="0"/>
            </a:p>
            <a:p>
              <a:pPr algn="ctr"/>
              <a:r>
                <a:rPr lang="ja-JP" altLang="ja-JP" sz="1400" dirty="0"/>
                <a:t>社会的承認</a:t>
              </a:r>
              <a:endParaRPr kumimoji="1" lang="ja-JP" altLang="en-US" sz="1400" dirty="0"/>
            </a:p>
          </p:txBody>
        </p: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19882937-5BA7-C17C-8EE4-94E3F0897D19}"/>
              </a:ext>
            </a:extLst>
          </p:cNvPr>
          <p:cNvGrpSpPr/>
          <p:nvPr/>
        </p:nvGrpSpPr>
        <p:grpSpPr>
          <a:xfrm>
            <a:off x="3450278" y="1228204"/>
            <a:ext cx="1516380" cy="2286000"/>
            <a:chOff x="1938301" y="226423"/>
            <a:chExt cx="1516380" cy="2286000"/>
          </a:xfrm>
        </p:grpSpPr>
        <p:pic>
          <p:nvPicPr>
            <p:cNvPr id="7" name="図 6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0E56990-ADC3-164D-2069-10C0EA89C3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38301" y="226423"/>
              <a:ext cx="1516380" cy="2286000"/>
            </a:xfrm>
            <a:prstGeom prst="rect">
              <a:avLst/>
            </a:prstGeom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7B26728C-3DFE-9016-4C21-D83A8399B8B6}"/>
                </a:ext>
              </a:extLst>
            </p:cNvPr>
            <p:cNvSpPr txBox="1"/>
            <p:nvPr/>
          </p:nvSpPr>
          <p:spPr>
            <a:xfrm>
              <a:off x="2067099" y="615370"/>
              <a:ext cx="1258784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快楽主義</a:t>
              </a:r>
            </a:p>
            <a:p>
              <a:pPr algn="ctr"/>
              <a:r>
                <a:rPr lang="fr-FR" altLang="ja-JP" b="1" dirty="0"/>
                <a:t> </a:t>
              </a:r>
            </a:p>
            <a:p>
              <a:pPr algn="ctr"/>
              <a:r>
                <a:rPr kumimoji="1" lang="ja-JP" altLang="en-US" sz="1400" dirty="0"/>
                <a:t>楽しみ</a:t>
              </a:r>
              <a:endParaRPr kumimoji="1" lang="en-US" altLang="ja-JP" sz="1400" dirty="0"/>
            </a:p>
            <a:p>
              <a:pPr algn="ctr"/>
              <a:r>
                <a:rPr kumimoji="1" lang="ja-JP" altLang="en-US" sz="1400" dirty="0"/>
                <a:t>人生の享受</a:t>
              </a:r>
            </a:p>
          </p:txBody>
        </p: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70D8DF4A-E9CE-9629-F4CB-2CD2AEEF60CA}"/>
              </a:ext>
            </a:extLst>
          </p:cNvPr>
          <p:cNvGrpSpPr/>
          <p:nvPr/>
        </p:nvGrpSpPr>
        <p:grpSpPr>
          <a:xfrm>
            <a:off x="5160968" y="1251064"/>
            <a:ext cx="1516380" cy="2286000"/>
            <a:chOff x="3629941" y="241663"/>
            <a:chExt cx="1516380" cy="2286000"/>
          </a:xfrm>
        </p:grpSpPr>
        <p:pic>
          <p:nvPicPr>
            <p:cNvPr id="9" name="図 8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52145D5C-D291-2916-7536-7E0CCC5E1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9941" y="241663"/>
              <a:ext cx="1516380" cy="2286000"/>
            </a:xfrm>
            <a:prstGeom prst="rect">
              <a:avLst/>
            </a:prstGeom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DE2A32F6-F870-A37D-E296-2E850B783E01}"/>
                </a:ext>
              </a:extLst>
            </p:cNvPr>
            <p:cNvSpPr txBox="1"/>
            <p:nvPr/>
          </p:nvSpPr>
          <p:spPr>
            <a:xfrm>
              <a:off x="3758739" y="630610"/>
              <a:ext cx="1258784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自己決定</a:t>
              </a:r>
            </a:p>
            <a:p>
              <a:pPr algn="ctr"/>
              <a:r>
                <a:rPr lang="fr-FR" altLang="ja-JP" b="1" dirty="0"/>
                <a:t> </a:t>
              </a:r>
            </a:p>
            <a:p>
              <a:pPr algn="ctr"/>
              <a:r>
                <a:rPr lang="ja-JP" altLang="ja-JP" sz="1400" dirty="0">
                  <a:latin typeface="+mn-ea"/>
                </a:rPr>
                <a:t>創造性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ja-JP" sz="1400" dirty="0">
                  <a:latin typeface="+mn-ea"/>
                </a:rPr>
                <a:t>好奇心、自由</a:t>
              </a:r>
            </a:p>
            <a:p>
              <a:pPr algn="ctr"/>
              <a:r>
                <a:rPr lang="ja-JP" altLang="ja-JP" sz="1400" dirty="0">
                  <a:latin typeface="+mn-ea"/>
                </a:rPr>
                <a:t>目標選択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ja-JP" sz="1400" dirty="0">
                  <a:latin typeface="+mn-ea"/>
                </a:rPr>
                <a:t>独立</a:t>
              </a:r>
              <a:endParaRPr kumimoji="1" lang="ja-JP" altLang="en-US" sz="1400" dirty="0">
                <a:latin typeface="+mn-ea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B8E08A30-B03E-34D7-8BB2-41EA1876D894}"/>
              </a:ext>
            </a:extLst>
          </p:cNvPr>
          <p:cNvGrpSpPr/>
          <p:nvPr/>
        </p:nvGrpSpPr>
        <p:grpSpPr>
          <a:xfrm>
            <a:off x="6871658" y="1273924"/>
            <a:ext cx="1516380" cy="2286000"/>
            <a:chOff x="5382541" y="241663"/>
            <a:chExt cx="1516380" cy="2286000"/>
          </a:xfrm>
        </p:grpSpPr>
        <p:pic>
          <p:nvPicPr>
            <p:cNvPr id="11" name="図 10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B5D3848A-FF86-6A5D-FB0D-6CBE1A5491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82541" y="241663"/>
              <a:ext cx="1516380" cy="2286000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1B0A503-B139-3135-3478-5E174BAFA221}"/>
                </a:ext>
              </a:extLst>
            </p:cNvPr>
            <p:cNvSpPr txBox="1"/>
            <p:nvPr/>
          </p:nvSpPr>
          <p:spPr>
            <a:xfrm>
              <a:off x="5511339" y="341050"/>
              <a:ext cx="1258784" cy="215443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博愛</a:t>
              </a:r>
            </a:p>
            <a:p>
              <a:pPr algn="ctr"/>
              <a:r>
                <a:rPr lang="fr-FR" altLang="ja-JP" b="1" dirty="0"/>
                <a:t> </a:t>
              </a:r>
            </a:p>
            <a:p>
              <a:pPr algn="ctr"/>
              <a:r>
                <a:rPr lang="ja-JP" altLang="en-US" sz="1400" dirty="0">
                  <a:latin typeface="+mn-ea"/>
                </a:rPr>
                <a:t>援助、正直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寛容、忠誠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責任</a:t>
              </a:r>
            </a:p>
            <a:p>
              <a:pPr algn="ctr"/>
              <a:r>
                <a:rPr lang="ja-JP" altLang="en-US" sz="1400" dirty="0">
                  <a:latin typeface="+mn-ea"/>
                </a:rPr>
                <a:t>真の友情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精神生活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成熟した愛</a:t>
              </a:r>
            </a:p>
            <a:p>
              <a:pPr algn="ctr"/>
              <a:r>
                <a:rPr lang="ja-JP" altLang="en-US" sz="1400" dirty="0">
                  <a:latin typeface="+mn-ea"/>
                </a:rPr>
                <a:t>人生の意味</a:t>
              </a:r>
            </a:p>
          </p:txBody>
        </p:sp>
      </p:grp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0607FE73-E800-1BBF-820F-22BF2EEA332B}"/>
              </a:ext>
            </a:extLst>
          </p:cNvPr>
          <p:cNvGrpSpPr/>
          <p:nvPr/>
        </p:nvGrpSpPr>
        <p:grpSpPr>
          <a:xfrm>
            <a:off x="8582348" y="1296784"/>
            <a:ext cx="1516380" cy="2286000"/>
            <a:chOff x="7074181" y="287383"/>
            <a:chExt cx="1516380" cy="2286000"/>
          </a:xfrm>
        </p:grpSpPr>
        <p:pic>
          <p:nvPicPr>
            <p:cNvPr id="13" name="図 12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1CACE94-BE93-B9C0-54A6-075AFC93D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74181" y="287383"/>
              <a:ext cx="1516380" cy="2286000"/>
            </a:xfrm>
            <a:prstGeom prst="rect">
              <a:avLst/>
            </a:prstGeom>
          </p:spPr>
        </p:pic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C1CC4B3E-2756-AE23-073A-EE9FD8713791}"/>
                </a:ext>
              </a:extLst>
            </p:cNvPr>
            <p:cNvSpPr txBox="1"/>
            <p:nvPr/>
          </p:nvSpPr>
          <p:spPr>
            <a:xfrm>
              <a:off x="7202979" y="462970"/>
              <a:ext cx="1258784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伝統</a:t>
              </a:r>
            </a:p>
            <a:p>
              <a:pPr algn="ctr"/>
              <a:r>
                <a:rPr lang="fr-FR" altLang="ja-JP" b="1" dirty="0"/>
                <a:t> </a:t>
              </a:r>
            </a:p>
            <a:p>
              <a:pPr algn="ctr"/>
              <a:r>
                <a:rPr lang="ja-JP" altLang="en-US" sz="1400" dirty="0">
                  <a:latin typeface="+mn-ea"/>
                </a:rPr>
                <a:t>敬虔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運命の受容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謙遜</a:t>
              </a:r>
            </a:p>
            <a:p>
              <a:pPr algn="ctr"/>
              <a:r>
                <a:rPr lang="ja-JP" altLang="en-US" sz="1400" dirty="0">
                  <a:latin typeface="+mn-ea"/>
                </a:rPr>
                <a:t>穏健さ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伝統の尊重</a:t>
              </a:r>
              <a:endParaRPr lang="en-US" altLang="ja-JP" sz="1400" dirty="0">
                <a:latin typeface="+mn-ea"/>
              </a:endParaRPr>
            </a:p>
            <a:p>
              <a:pPr algn="ctr"/>
              <a:r>
                <a:rPr lang="ja-JP" altLang="en-US" sz="1400" dirty="0">
                  <a:latin typeface="+mn-ea"/>
                </a:rPr>
                <a:t>超然</a:t>
              </a: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1CF93222-94C1-D00A-A9E9-BC5C7A6ABCD7}"/>
              </a:ext>
            </a:extLst>
          </p:cNvPr>
          <p:cNvGrpSpPr/>
          <p:nvPr/>
        </p:nvGrpSpPr>
        <p:grpSpPr>
          <a:xfrm>
            <a:off x="1770068" y="3948544"/>
            <a:ext cx="1516380" cy="2286000"/>
            <a:chOff x="261901" y="2939143"/>
            <a:chExt cx="1516380" cy="2286000"/>
          </a:xfrm>
        </p:grpSpPr>
        <p:pic>
          <p:nvPicPr>
            <p:cNvPr id="15" name="図 14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F4A01F80-CAD6-CDE6-0BA8-BFDEE64481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1901" y="2939143"/>
              <a:ext cx="1516380" cy="2286000"/>
            </a:xfrm>
            <a:prstGeom prst="rect">
              <a:avLst/>
            </a:prstGeom>
          </p:spPr>
        </p:pic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149320EE-4EC0-C48D-5EC7-B2E261D0F9B3}"/>
                </a:ext>
              </a:extLst>
            </p:cNvPr>
            <p:cNvSpPr txBox="1"/>
            <p:nvPr/>
          </p:nvSpPr>
          <p:spPr>
            <a:xfrm>
              <a:off x="390699" y="3328090"/>
              <a:ext cx="1258784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達成</a:t>
              </a:r>
              <a:endParaRPr lang="ja-JP" altLang="ja-JP" dirty="0"/>
            </a:p>
            <a:p>
              <a:r>
                <a:rPr lang="fr-FR" altLang="ja-JP" b="1" dirty="0"/>
                <a:t> </a:t>
              </a:r>
            </a:p>
            <a:p>
              <a:pPr algn="ctr"/>
              <a:r>
                <a:rPr lang="ja-JP" altLang="ja-JP" sz="1400" dirty="0"/>
                <a:t>成功、有能</a:t>
              </a:r>
              <a:endParaRPr lang="en-US" altLang="ja-JP" sz="1400" dirty="0"/>
            </a:p>
            <a:p>
              <a:pPr algn="ctr"/>
              <a:r>
                <a:rPr lang="ja-JP" altLang="ja-JP" sz="1400" dirty="0"/>
                <a:t>野心、影響</a:t>
              </a:r>
            </a:p>
            <a:p>
              <a:pPr algn="ctr"/>
              <a:r>
                <a:rPr lang="ja-JP" altLang="ja-JP" sz="1400" dirty="0"/>
                <a:t>知性</a:t>
              </a:r>
              <a:endParaRPr lang="en-US" altLang="ja-JP" sz="1400" dirty="0"/>
            </a:p>
            <a:p>
              <a:pPr algn="ctr"/>
              <a:r>
                <a:rPr lang="ja-JP" altLang="ja-JP" sz="1400" dirty="0"/>
                <a:t>自己尊重</a:t>
              </a:r>
              <a:endParaRPr lang="ja-JP" altLang="ja-JP" sz="1400" dirty="0">
                <a:latin typeface="+mn-ea"/>
              </a:endParaRPr>
            </a:p>
          </p:txBody>
        </p: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93B63AB2-210D-BED5-5AF9-CF832DF0EDB7}"/>
              </a:ext>
            </a:extLst>
          </p:cNvPr>
          <p:cNvGrpSpPr/>
          <p:nvPr/>
        </p:nvGrpSpPr>
        <p:grpSpPr>
          <a:xfrm>
            <a:off x="3522668" y="3950434"/>
            <a:ext cx="1516380" cy="2286000"/>
            <a:chOff x="2014501" y="2984863"/>
            <a:chExt cx="1516380" cy="2286000"/>
          </a:xfrm>
        </p:grpSpPr>
        <p:pic>
          <p:nvPicPr>
            <p:cNvPr id="17" name="図 16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359E2194-2AC9-22CE-EE4F-0E540A4FF6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14501" y="2984863"/>
              <a:ext cx="1516380" cy="2286000"/>
            </a:xfrm>
            <a:prstGeom prst="rect">
              <a:avLst/>
            </a:prstGeom>
          </p:spPr>
        </p:pic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A81D43DD-CAD3-2109-0B5E-B28452FB4856}"/>
                </a:ext>
              </a:extLst>
            </p:cNvPr>
            <p:cNvSpPr txBox="1"/>
            <p:nvPr/>
          </p:nvSpPr>
          <p:spPr>
            <a:xfrm>
              <a:off x="2014501" y="3373810"/>
              <a:ext cx="1516380" cy="12926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刺激</a:t>
              </a:r>
              <a:endParaRPr lang="ja-JP" altLang="ja-JP" dirty="0"/>
            </a:p>
            <a:p>
              <a:r>
                <a:rPr lang="fr-FR" altLang="ja-JP" b="1" dirty="0"/>
                <a:t> </a:t>
              </a:r>
            </a:p>
            <a:p>
              <a:pPr algn="ctr"/>
              <a:r>
                <a:rPr lang="ja-JP" altLang="en-US" sz="1400" dirty="0"/>
                <a:t>勇気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変化のある人生</a:t>
              </a:r>
            </a:p>
            <a:p>
              <a:pPr algn="ctr"/>
              <a:r>
                <a:rPr lang="ja-JP" altLang="en-US" sz="1400" dirty="0"/>
                <a:t>活気ある人生</a:t>
              </a:r>
            </a:p>
          </p:txBody>
        </p:sp>
      </p:grp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501DEDF7-CDE4-7DFC-A2D9-1A669363FC4F}"/>
              </a:ext>
            </a:extLst>
          </p:cNvPr>
          <p:cNvGrpSpPr/>
          <p:nvPr/>
        </p:nvGrpSpPr>
        <p:grpSpPr>
          <a:xfrm>
            <a:off x="5183828" y="3954214"/>
            <a:ext cx="1516380" cy="2369880"/>
            <a:chOff x="3675661" y="2977570"/>
            <a:chExt cx="1516380" cy="2369880"/>
          </a:xfrm>
        </p:grpSpPr>
        <p:pic>
          <p:nvPicPr>
            <p:cNvPr id="19" name="図 18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D9C9C857-061F-8D16-EE4E-1C3182DA86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75661" y="2984863"/>
              <a:ext cx="1516380" cy="2286000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E334476-0E9B-9F7B-2421-FD18CEA5D5EC}"/>
                </a:ext>
              </a:extLst>
            </p:cNvPr>
            <p:cNvSpPr txBox="1"/>
            <p:nvPr/>
          </p:nvSpPr>
          <p:spPr>
            <a:xfrm>
              <a:off x="3804459" y="2977570"/>
              <a:ext cx="1258784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普遍主義</a:t>
              </a:r>
              <a:endParaRPr lang="ja-JP" altLang="ja-JP" dirty="0"/>
            </a:p>
            <a:p>
              <a:r>
                <a:rPr lang="fr-FR" altLang="ja-JP" b="1" dirty="0"/>
                <a:t> </a:t>
              </a:r>
            </a:p>
            <a:p>
              <a:pPr algn="ctr"/>
              <a:r>
                <a:rPr lang="ja-JP" altLang="en-US" sz="1400" dirty="0"/>
                <a:t>環境保護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美の世界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自然との調和</a:t>
              </a:r>
            </a:p>
            <a:p>
              <a:pPr algn="ctr"/>
              <a:r>
                <a:rPr lang="ja-JP" altLang="en-US" sz="1400" dirty="0"/>
                <a:t>寛大さ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社会的公正、知恵、平等</a:t>
              </a:r>
            </a:p>
            <a:p>
              <a:pPr algn="ctr"/>
              <a:r>
                <a:rPr lang="ja-JP" altLang="en-US" sz="1400" dirty="0"/>
                <a:t>世界平和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内面調和</a:t>
              </a: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F6468983-84E2-678A-0A81-1EC8B0B4BCA3}"/>
              </a:ext>
            </a:extLst>
          </p:cNvPr>
          <p:cNvGrpSpPr/>
          <p:nvPr/>
        </p:nvGrpSpPr>
        <p:grpSpPr>
          <a:xfrm>
            <a:off x="6951668" y="3952324"/>
            <a:ext cx="1516380" cy="2286000"/>
            <a:chOff x="5443501" y="3015343"/>
            <a:chExt cx="1516380" cy="2286000"/>
          </a:xfrm>
        </p:grpSpPr>
        <p:pic>
          <p:nvPicPr>
            <p:cNvPr id="21" name="図 20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62C6FE0C-7652-2018-477A-830B9C6A3B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43501" y="3015343"/>
              <a:ext cx="1516380" cy="2286000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6DAB2CC7-8470-5021-7680-823958DDAE90}"/>
                </a:ext>
              </a:extLst>
            </p:cNvPr>
            <p:cNvSpPr txBox="1"/>
            <p:nvPr/>
          </p:nvSpPr>
          <p:spPr>
            <a:xfrm>
              <a:off x="5443501" y="3404290"/>
              <a:ext cx="1516380" cy="1508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調和</a:t>
              </a:r>
              <a:endParaRPr lang="ja-JP" altLang="ja-JP" dirty="0"/>
            </a:p>
            <a:p>
              <a:r>
                <a:rPr lang="fr-FR" altLang="ja-JP" b="1" dirty="0"/>
                <a:t> </a:t>
              </a:r>
            </a:p>
            <a:p>
              <a:pPr algn="ctr"/>
              <a:r>
                <a:rPr lang="ja-JP" altLang="en-US" sz="1400" dirty="0"/>
                <a:t>礼儀正しさ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親・年長者への尊敬</a:t>
              </a:r>
            </a:p>
            <a:p>
              <a:pPr algn="ctr"/>
              <a:r>
                <a:rPr lang="ja-JP" altLang="en-US" sz="1400" dirty="0"/>
                <a:t>自己鍛錬、従順</a:t>
              </a: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FA380C2-9ECC-B1CB-3A09-6C4B04576D24}"/>
              </a:ext>
            </a:extLst>
          </p:cNvPr>
          <p:cNvGrpSpPr/>
          <p:nvPr/>
        </p:nvGrpSpPr>
        <p:grpSpPr>
          <a:xfrm>
            <a:off x="8643308" y="4039984"/>
            <a:ext cx="1516380" cy="2286000"/>
            <a:chOff x="7135141" y="3030583"/>
            <a:chExt cx="1516380" cy="2286000"/>
          </a:xfrm>
        </p:grpSpPr>
        <p:pic>
          <p:nvPicPr>
            <p:cNvPr id="23" name="図 22" descr="図形, 正方形&#10;&#10;AI 生成コンテンツは誤りを含む可能性があります。">
              <a:extLst>
                <a:ext uri="{FF2B5EF4-FFF2-40B4-BE49-F238E27FC236}">
                  <a16:creationId xmlns:a16="http://schemas.microsoft.com/office/drawing/2014/main" id="{5B07B7CE-050B-FF7E-CF93-69ADBAA4C0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5141" y="3030583"/>
              <a:ext cx="1516380" cy="2286000"/>
            </a:xfrm>
            <a:prstGeom prst="rect">
              <a:avLst/>
            </a:prstGeom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7DEDF07A-A5F0-F944-B073-8612B12B0DC0}"/>
                </a:ext>
              </a:extLst>
            </p:cNvPr>
            <p:cNvSpPr txBox="1"/>
            <p:nvPr/>
          </p:nvSpPr>
          <p:spPr>
            <a:xfrm>
              <a:off x="7135141" y="3251890"/>
              <a:ext cx="151638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b="1" dirty="0"/>
                <a:t>安全</a:t>
              </a:r>
              <a:endParaRPr lang="ja-JP" altLang="ja-JP" dirty="0"/>
            </a:p>
            <a:p>
              <a:r>
                <a:rPr lang="fr-FR" altLang="ja-JP" b="1" dirty="0"/>
                <a:t> </a:t>
              </a:r>
            </a:p>
            <a:p>
              <a:pPr algn="ctr"/>
              <a:r>
                <a:rPr lang="ja-JP" altLang="en-US" sz="1400" dirty="0"/>
                <a:t>清潔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国家の安全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社会的秩序</a:t>
              </a:r>
            </a:p>
            <a:p>
              <a:pPr algn="ctr"/>
              <a:r>
                <a:rPr lang="ja-JP" altLang="en-US" sz="1400" dirty="0"/>
                <a:t>家庭の安全</a:t>
              </a:r>
              <a:endParaRPr lang="en-US" altLang="ja-JP" sz="1400" dirty="0"/>
            </a:p>
            <a:p>
              <a:pPr algn="ctr"/>
              <a:r>
                <a:rPr lang="ja-JP" altLang="en-US" sz="1400" dirty="0"/>
                <a:t>恩返し</a:t>
              </a:r>
            </a:p>
            <a:p>
              <a:pPr algn="ctr"/>
              <a:r>
                <a:rPr lang="ja-JP" altLang="en-US" sz="1400" dirty="0"/>
                <a:t>健康、所属感</a:t>
              </a:r>
            </a:p>
          </p:txBody>
        </p:sp>
      </p:grpSp>
      <p:sp>
        <p:nvSpPr>
          <p:cNvPr id="2" name="タイトル 1">
            <a:extLst>
              <a:ext uri="{FF2B5EF4-FFF2-40B4-BE49-F238E27FC236}">
                <a16:creationId xmlns:a16="http://schemas.microsoft.com/office/drawing/2014/main" id="{A163B0EB-3AD4-36AE-FB68-C0453475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068" y="329500"/>
            <a:ext cx="4200848" cy="647279"/>
          </a:xfrm>
        </p:spPr>
        <p:txBody>
          <a:bodyPr>
            <a:normAutofit/>
          </a:bodyPr>
          <a:lstStyle/>
          <a:p>
            <a:r>
              <a:rPr lang="en-US" altLang="ja-JP" sz="3600" dirty="0"/>
              <a:t>10</a:t>
            </a:r>
            <a:r>
              <a:rPr lang="ja-JP" altLang="en-US" sz="3600" dirty="0"/>
              <a:t>枚のカード</a:t>
            </a:r>
          </a:p>
        </p:txBody>
      </p:sp>
    </p:spTree>
    <p:extLst>
      <p:ext uri="{BB962C8B-B14F-4D97-AF65-F5344CB8AC3E}">
        <p14:creationId xmlns:p14="http://schemas.microsoft.com/office/powerpoint/2010/main" val="74721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199</Words>
  <Application>Microsoft Office PowerPoint</Application>
  <PresentationFormat>ワイド画面</PresentationFormat>
  <Paragraphs>70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10枚のカード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加藤 裕史</dc:creator>
  <cp:lastModifiedBy>加藤 裕史</cp:lastModifiedBy>
  <cp:revision>9</cp:revision>
  <dcterms:created xsi:type="dcterms:W3CDTF">2025-06-10T05:53:31Z</dcterms:created>
  <dcterms:modified xsi:type="dcterms:W3CDTF">2025-06-11T00:06:55Z</dcterms:modified>
</cp:coreProperties>
</file>